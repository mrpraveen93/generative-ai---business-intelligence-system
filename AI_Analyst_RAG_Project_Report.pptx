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78240" y="0"/>
            <a:ext cx="3410712" cy="1005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4080" y="1005840"/>
            <a:ext cx="2404872" cy="9144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03920" y="6126480"/>
            <a:ext cx="3685032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0" y="5394960"/>
            <a:ext cx="192024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ptos"/>
              </a:defRPr>
            </a:pPr>
            <a:r>
              <a:t>AI Analyst</a:t>
            </a:r>
          </a:p>
          <a:p>
            <a:pPr>
              <a:spcBef>
                <a:spcPts val="1000"/>
              </a:spcBef>
              <a:defRPr sz="2400">
                <a:solidFill>
                  <a:srgbClr val="BFDBFE"/>
                </a:solidFill>
                <a:latin typeface="Aptos"/>
              </a:defRPr>
            </a:pPr>
            <a:r>
              <a:t>RAG-Based Business Intelligence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246120"/>
            <a:ext cx="7040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E2E8F0"/>
                </a:solidFill>
                <a:latin typeface="Aptos"/>
              </a:defRPr>
            </a:pPr>
            <a:r>
              <a:t>Domain: Event Management AI Analytics</a:t>
            </a:r>
          </a:p>
          <a:p>
            <a:pPr>
              <a:spcBef>
                <a:spcPts val="1200"/>
              </a:spcBef>
              <a:defRPr sz="1600" b="1">
                <a:solidFill>
                  <a:srgbClr val="FFFFFF"/>
                </a:solidFill>
                <a:latin typeface="Aptos"/>
              </a:defRPr>
            </a:pPr>
            <a:r>
              <a:t>By PRAVEEN MANDANGI</a:t>
            </a:r>
          </a:p>
          <a:p>
            <a:pPr>
              <a:spcBef>
                <a:spcPts val="1200"/>
              </a:spcBef>
              <a:defRPr sz="1200">
                <a:solidFill>
                  <a:srgbClr val="CBD5E1"/>
                </a:solidFill>
                <a:latin typeface="Aptos"/>
              </a:defRPr>
            </a:pPr>
            <a:r>
              <a:t>Natural-language analysis across structured data and business documents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ptos"/>
              </a:defRPr>
            </a:pPr>
            <a:r>
              <a:t>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685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"/>
              </a:defRPr>
            </a:pPr>
            <a:r>
              <a:t>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34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Project report 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91640"/>
            <a:ext cx="502920" cy="34747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673352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95144"/>
            <a:ext cx="502920" cy="34747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276856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98648"/>
            <a:ext cx="502920" cy="34747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88036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502152"/>
            <a:ext cx="502920" cy="34747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3483864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Tools &amp; Technologies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05656"/>
            <a:ext cx="502920" cy="34747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4087368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709160"/>
            <a:ext cx="502920" cy="34747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690872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Data Description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312664"/>
            <a:ext cx="502920" cy="34747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7.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5294376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System Design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1691640"/>
            <a:ext cx="502920" cy="34747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8.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3448" y="1673352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Key Insights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2295144"/>
            <a:ext cx="502920" cy="34747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9.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3448" y="2276856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Challenges Faced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898648"/>
            <a:ext cx="502920" cy="34747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10.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3448" y="2880360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Real-Life Applications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502152"/>
            <a:ext cx="502920" cy="34747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11.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3483864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4105656"/>
            <a:ext cx="502920" cy="34747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12.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3448" y="4087368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4709160"/>
            <a:ext cx="502920" cy="347472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13.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13448" y="4690872"/>
            <a:ext cx="4480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7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547104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658368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AI Analyst • RAG-Based Business Intelligence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583680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  <a:latin typeface="Aptos"/>
              </a:defRPr>
            </a:pPr>
            <a:r>
              <a:t>PRAVEEN 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685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"/>
              </a:defRPr>
            </a:pPr>
            <a:r>
              <a:t>1.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34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Turning scattered event-management information into accessible AI insights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33832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737360"/>
            <a:ext cx="64008" cy="3337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83664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33C"/>
                </a:solidFill>
                <a:latin typeface="Aptos"/>
              </a:defRPr>
            </a:pPr>
            <a:r>
              <a:t>Business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04288"/>
            <a:ext cx="3017520" cy="2642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100">
                <a:solidFill>
                  <a:srgbClr val="1F2937"/>
                </a:solidFill>
                <a:latin typeface="Aptos"/>
              </a:defRPr>
            </a:pPr>
            <a:r>
              <a:t>Event management companies generate structured and unstructured data across event records, vendor information, revenue reports, operational documents, and business policies.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37360"/>
            <a:ext cx="33832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737360"/>
            <a:ext cx="64008" cy="3337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883664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33C"/>
                </a:solidFill>
                <a:latin typeface="Aptos"/>
              </a:defRPr>
            </a:pPr>
            <a:r>
              <a:t>Project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304288"/>
            <a:ext cx="3017520" cy="2642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100">
                <a:solidFill>
                  <a:srgbClr val="1F2937"/>
                </a:solidFill>
                <a:latin typeface="Aptos"/>
              </a:defRPr>
            </a:pPr>
            <a:r>
              <a:t>Build an AI Analyst powered by RAG and SQL that understands natural-language business questions and retrieves the required information.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737360"/>
            <a:ext cx="33832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737360"/>
            <a:ext cx="64008" cy="3337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1883664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33C"/>
                </a:solidFill>
                <a:latin typeface="Aptos"/>
              </a:defRPr>
            </a:pPr>
            <a:r>
              <a:t>Core Capability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304288"/>
            <a:ext cx="3017520" cy="2642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100">
                <a:solidFill>
                  <a:srgbClr val="1F2937"/>
                </a:solidFill>
                <a:latin typeface="Aptos"/>
              </a:defRPr>
            </a:pPr>
            <a:r>
              <a:t>Combine structured event data with PDF-based business knowledge to generate contextual and actionable business insights.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547104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658368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AI Analyst • RAG-Based Business Intelligence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83680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  <a:latin typeface="Aptos"/>
              </a:defRPr>
            </a:pPr>
            <a:r>
              <a:t>PRAVEEN 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685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"/>
              </a:defRPr>
            </a:pPr>
            <a:r>
              <a:t>2.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34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Key business problems addressed by the AI Analyst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64008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3794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33C"/>
                </a:solidFill>
                <a:latin typeface="Aptos"/>
              </a:defRPr>
            </a:pPr>
            <a:r>
              <a:t>Scattered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258568"/>
            <a:ext cx="306324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050">
                <a:solidFill>
                  <a:srgbClr val="1F2937"/>
                </a:solidFill>
                <a:latin typeface="Aptos"/>
              </a:defRPr>
            </a:pPr>
            <a:r>
              <a:t>Information exists across Excel and PDF 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9164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691640"/>
            <a:ext cx="64008" cy="1600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83794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33C"/>
                </a:solidFill>
                <a:latin typeface="Aptos"/>
              </a:defRPr>
            </a:pPr>
            <a:r>
              <a:t>Manual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2258568"/>
            <a:ext cx="306324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050">
                <a:solidFill>
                  <a:srgbClr val="1F2937"/>
                </a:solidFill>
                <a:latin typeface="Aptos"/>
              </a:defRPr>
            </a:pPr>
            <a:r>
              <a:t>Users manually search documents and analyze spreadsheets.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69164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79" y="1691640"/>
            <a:ext cx="64008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8" y="183794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33C"/>
                </a:solidFill>
                <a:latin typeface="Aptos"/>
              </a:defRPr>
            </a:pPr>
            <a:r>
              <a:t>Complex queries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2258568"/>
            <a:ext cx="306324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050">
                <a:solidFill>
                  <a:srgbClr val="1F2937"/>
                </a:solidFill>
                <a:latin typeface="Aptos"/>
              </a:defRPr>
            </a:pPr>
            <a:r>
              <a:t>Business users may not know SQL or where information is stored.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65760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657600"/>
            <a:ext cx="64008" cy="160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80390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33C"/>
                </a:solidFill>
                <a:latin typeface="Aptos"/>
              </a:defRPr>
            </a:pPr>
            <a:r>
              <a:t>Disconnected information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224528"/>
            <a:ext cx="306324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050">
                <a:solidFill>
                  <a:srgbClr val="1F2937"/>
                </a:solidFill>
                <a:latin typeface="Aptos"/>
              </a:defRPr>
            </a:pPr>
            <a:r>
              <a:t>Numerical data and business context are stored separately.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65760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657600"/>
            <a:ext cx="64008" cy="1600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7" y="380390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33C"/>
                </a:solidFill>
                <a:latin typeface="Aptos"/>
              </a:defRPr>
            </a:pPr>
            <a:r>
              <a:t>Unsupported answers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7" y="4224528"/>
            <a:ext cx="306324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050">
                <a:solidFill>
                  <a:srgbClr val="1F2937"/>
                </a:solidFill>
                <a:latin typeface="Aptos"/>
              </a:defRPr>
            </a:pPr>
            <a:r>
              <a:t>Traditional LLM responses may not be grounded in company data.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3657600"/>
            <a:ext cx="3429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79" y="3657600"/>
            <a:ext cx="64008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5048" y="380390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33C"/>
                </a:solidFill>
                <a:latin typeface="Aptos"/>
              </a:defRPr>
            </a:pPr>
            <a:r>
              <a:t>Slow decisions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8" y="4224528"/>
            <a:ext cx="3063240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050">
                <a:solidFill>
                  <a:srgbClr val="1F2937"/>
                </a:solidFill>
                <a:latin typeface="Aptos"/>
              </a:defRPr>
            </a:pPr>
            <a:r>
              <a:t>Analysts spend time collecting information instead of generating insights.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547104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658368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AI Analyst • RAG-Based Business Intelligence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83680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  <a:latin typeface="Aptos"/>
              </a:defRPr>
            </a:pPr>
            <a:r>
              <a:t>PRAVEEN 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685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"/>
              </a:defRPr>
            </a:pPr>
            <a:r>
              <a:t>3.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34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What the project was designed to achieve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149840" cy="3931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Understand natural-language business questions.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Retrieve relevant information from PDF business documents.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Query structured event data using SQL.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Combine numerical data and business context when required.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2000">
                <a:solidFill>
                  <a:srgbClr val="1F2937"/>
                </a:solidFill>
                <a:latin typeface="Aptos"/>
              </a:defRPr>
            </a:pPr>
            <a:r>
              <a:t>• Provide accurate, contextual, and actionable business insights.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5349240"/>
            <a:ext cx="2834640" cy="59436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  <a:latin typeface="Aptos"/>
              </a:defRPr>
            </a:pPr>
            <a:r>
              <a:t>Goal: One AI interface for business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47104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58368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AI Analyst • RAG-Based Business Intelligence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83680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  <a:latin typeface="Aptos"/>
              </a:defRPr>
            </a:pPr>
            <a:r>
              <a:t>PRAVEEN 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ptos"/>
              </a:defRPr>
            </a:pPr>
            <a:r>
              <a:t>TOOLS &amp;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685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"/>
              </a:defRPr>
            </a:pPr>
            <a:r>
              <a:t>4. Tools &amp;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34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Technology stack used to build the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72768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572768"/>
            <a:ext cx="64008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719072"/>
            <a:ext cx="3154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33C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139696"/>
            <a:ext cx="3154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50">
                <a:solidFill>
                  <a:srgbClr val="1F2937"/>
                </a:solidFill>
                <a:latin typeface="Aptos"/>
              </a:defRPr>
            </a:pPr>
            <a:r>
              <a:t>Core development and orchestration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72768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572768"/>
            <a:ext cx="64008" cy="1143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1719072"/>
            <a:ext cx="3154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33C"/>
                </a:solidFill>
                <a:latin typeface="Aptos"/>
              </a:defRPr>
            </a:pPr>
            <a:r>
              <a:t>Pandas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139696"/>
            <a:ext cx="3154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50">
                <a:solidFill>
                  <a:srgbClr val="1F2937"/>
                </a:solidFill>
                <a:latin typeface="Aptos"/>
              </a:defRPr>
            </a:pPr>
            <a:r>
              <a:t>Excel data loading and processing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572768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20" y="1572768"/>
            <a:ext cx="64008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76488" y="1719072"/>
            <a:ext cx="3154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33C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2139696"/>
            <a:ext cx="3154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50">
                <a:solidFill>
                  <a:srgbClr val="1F2937"/>
                </a:solidFill>
                <a:latin typeface="Aptos"/>
              </a:defRPr>
            </a:pPr>
            <a:r>
              <a:t>Structured event-data storage and SQL execution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01752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017520"/>
            <a:ext cx="64008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3163824"/>
            <a:ext cx="3154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33C"/>
                </a:solidFill>
                <a:latin typeface="Aptos"/>
              </a:defRPr>
            </a:pPr>
            <a:r>
              <a:t>LangChain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3584448"/>
            <a:ext cx="3154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50">
                <a:solidFill>
                  <a:srgbClr val="1F2937"/>
                </a:solidFill>
                <a:latin typeface="Aptos"/>
              </a:defRPr>
            </a:pPr>
            <a:r>
              <a:t>RAG and LLM workflow components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01752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017520"/>
            <a:ext cx="64008" cy="1143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8" y="3163824"/>
            <a:ext cx="3154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33C"/>
                </a:solidFill>
                <a:latin typeface="Aptos"/>
              </a:defRPr>
            </a:pPr>
            <a:r>
              <a:t>PyPDFLoader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3584448"/>
            <a:ext cx="3154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50">
                <a:solidFill>
                  <a:srgbClr val="1F2937"/>
                </a:solidFill>
                <a:latin typeface="Aptos"/>
              </a:defRPr>
            </a:pPr>
            <a:r>
              <a:t>PDF document loading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301752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75320" y="3017520"/>
            <a:ext cx="64008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76488" y="3163824"/>
            <a:ext cx="3154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33C"/>
                </a:solidFill>
                <a:latin typeface="Aptos"/>
              </a:defRPr>
            </a:pPr>
            <a:r>
              <a:t>Hugging Face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3584448"/>
            <a:ext cx="3154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50">
                <a:solidFill>
                  <a:srgbClr val="1F2937"/>
                </a:solidFill>
                <a:latin typeface="Aptos"/>
              </a:defRPr>
            </a:pPr>
            <a:r>
              <a:t>all-MiniLM-L6-v2 embeddings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462272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94360" y="4462272"/>
            <a:ext cx="64008" cy="1143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4608576"/>
            <a:ext cx="3154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33C"/>
                </a:solidFill>
                <a:latin typeface="Aptos"/>
              </a:defRPr>
            </a:pPr>
            <a:r>
              <a:t>FAISS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" y="5029200"/>
            <a:ext cx="3154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50">
                <a:solidFill>
                  <a:srgbClr val="1F2937"/>
                </a:solidFill>
                <a:latin typeface="Aptos"/>
              </a:defRPr>
            </a:pPr>
            <a:r>
              <a:t>Vector database and similarity search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34840" y="4462272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34840" y="4462272"/>
            <a:ext cx="64008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36008" y="4608576"/>
            <a:ext cx="3154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33C"/>
                </a:solidFill>
                <a:latin typeface="Aptos"/>
              </a:defRPr>
            </a:pPr>
            <a:r>
              <a:t>Groq + Llama 3.3 70B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36008" y="5029200"/>
            <a:ext cx="3154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50">
                <a:solidFill>
                  <a:srgbClr val="1F2937"/>
                </a:solidFill>
                <a:latin typeface="Aptos"/>
              </a:defRPr>
            </a:pPr>
            <a:r>
              <a:t>Natural-language understanding and response generation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75320" y="4462272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75320" y="4462272"/>
            <a:ext cx="64008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76488" y="4608576"/>
            <a:ext cx="3154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33C"/>
                </a:solidFill>
                <a:latin typeface="Aptos"/>
              </a:defRPr>
            </a:pPr>
            <a:r>
              <a:t>Gradio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76488" y="5029200"/>
            <a:ext cx="3154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50">
                <a:solidFill>
                  <a:srgbClr val="1F2937"/>
                </a:solidFill>
                <a:latin typeface="Aptos"/>
              </a:defRPr>
            </a:pPr>
            <a:r>
              <a:t>Interactive AI Analyst interface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6547104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658368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AI Analyst • RAG-Based Business Intelligence System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583680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  <a:latin typeface="Aptos"/>
              </a:defRPr>
            </a:pPr>
            <a:r>
              <a:t>PRAVEEN 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685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"/>
              </a:defRPr>
            </a:pPr>
            <a:r>
              <a:t>5.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34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End-to-end workflow: data ingestion → retrieval/query → AI response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1645920"/>
            <a:ext cx="530352" cy="5303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52728" y="1627632"/>
            <a:ext cx="28346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52728" y="1627632"/>
            <a:ext cx="64008" cy="12984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53896" y="1773936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233C"/>
                </a:solidFill>
                <a:latin typeface="Aptos"/>
              </a:defRPr>
            </a:pPr>
            <a:r>
              <a:t>Data Import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2194560"/>
            <a:ext cx="24688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50">
                <a:solidFill>
                  <a:srgbClr val="1F2937"/>
                </a:solidFill>
                <a:latin typeface="Aptos"/>
              </a:defRPr>
            </a:pPr>
            <a:r>
              <a:t>Excel sheets + PDF reports</a:t>
            </a:r>
          </a:p>
        </p:txBody>
      </p:sp>
      <p:sp>
        <p:nvSpPr>
          <p:cNvPr id="12" name="Oval 11"/>
          <p:cNvSpPr/>
          <p:nvPr/>
        </p:nvSpPr>
        <p:spPr>
          <a:xfrm>
            <a:off x="4434840" y="1645920"/>
            <a:ext cx="530352" cy="530352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93208" y="1627632"/>
            <a:ext cx="28346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93208" y="1627632"/>
            <a:ext cx="64008" cy="12984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94376" y="1773936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233C"/>
                </a:solidFill>
                <a:latin typeface="Aptos"/>
              </a:defRPr>
            </a:pPr>
            <a:r>
              <a:t>Structured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4376" y="2194560"/>
            <a:ext cx="24688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50">
                <a:solidFill>
                  <a:srgbClr val="1F2937"/>
                </a:solidFill>
                <a:latin typeface="Aptos"/>
              </a:defRPr>
            </a:pPr>
            <a:r>
              <a:t>Pandas → SQLite tables</a:t>
            </a:r>
          </a:p>
        </p:txBody>
      </p:sp>
      <p:sp>
        <p:nvSpPr>
          <p:cNvPr id="17" name="Oval 16"/>
          <p:cNvSpPr/>
          <p:nvPr/>
        </p:nvSpPr>
        <p:spPr>
          <a:xfrm>
            <a:off x="8275320" y="1645920"/>
            <a:ext cx="530352" cy="530352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33688" y="1627632"/>
            <a:ext cx="28346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33688" y="1627632"/>
            <a:ext cx="64008" cy="12984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4856" y="1773936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233C"/>
                </a:solidFill>
                <a:latin typeface="Aptos"/>
              </a:defRPr>
            </a:pPr>
            <a:r>
              <a:t>RAG Preparation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856" y="2194560"/>
            <a:ext cx="24688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50">
                <a:solidFill>
                  <a:srgbClr val="1F2937"/>
                </a:solidFill>
                <a:latin typeface="Aptos"/>
              </a:defRPr>
            </a:pPr>
            <a:r>
              <a:t>PDF → chunks → embeddings → FAISS</a:t>
            </a:r>
          </a:p>
        </p:txBody>
      </p:sp>
      <p:sp>
        <p:nvSpPr>
          <p:cNvPr id="22" name="Oval 21"/>
          <p:cNvSpPr/>
          <p:nvPr/>
        </p:nvSpPr>
        <p:spPr>
          <a:xfrm>
            <a:off x="594360" y="3703320"/>
            <a:ext cx="530352" cy="53035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52728" y="3685032"/>
            <a:ext cx="28346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52728" y="3685032"/>
            <a:ext cx="64008" cy="12984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53896" y="3831336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233C"/>
                </a:solidFill>
                <a:latin typeface="Aptos"/>
              </a:defRPr>
            </a:pPr>
            <a:r>
              <a:t>Question Routing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53896" y="4251960"/>
            <a:ext cx="24688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50">
                <a:solidFill>
                  <a:srgbClr val="1F2937"/>
                </a:solidFill>
                <a:latin typeface="Aptos"/>
              </a:defRPr>
            </a:pPr>
            <a:r>
              <a:t>Classify as RAG / SQL / BOTH</a:t>
            </a:r>
          </a:p>
        </p:txBody>
      </p:sp>
      <p:sp>
        <p:nvSpPr>
          <p:cNvPr id="27" name="Oval 26"/>
          <p:cNvSpPr/>
          <p:nvPr/>
        </p:nvSpPr>
        <p:spPr>
          <a:xfrm>
            <a:off x="4434840" y="3703320"/>
            <a:ext cx="530352" cy="530352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93208" y="3685032"/>
            <a:ext cx="28346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93208" y="3685032"/>
            <a:ext cx="64008" cy="12984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94376" y="3831336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233C"/>
                </a:solidFill>
                <a:latin typeface="Aptos"/>
              </a:defRPr>
            </a:pPr>
            <a:r>
              <a:t>Execution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94376" y="4251960"/>
            <a:ext cx="24688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50">
                <a:solidFill>
                  <a:srgbClr val="1F2937"/>
                </a:solidFill>
                <a:latin typeface="Aptos"/>
              </a:defRPr>
            </a:pPr>
            <a:r>
              <a:t>Retrieve documents and/or execute SQL</a:t>
            </a:r>
          </a:p>
        </p:txBody>
      </p:sp>
      <p:sp>
        <p:nvSpPr>
          <p:cNvPr id="32" name="Oval 31"/>
          <p:cNvSpPr/>
          <p:nvPr/>
        </p:nvSpPr>
        <p:spPr>
          <a:xfrm>
            <a:off x="8275320" y="3703320"/>
            <a:ext cx="530352" cy="53035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33688" y="3685032"/>
            <a:ext cx="283464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33688" y="3685032"/>
            <a:ext cx="64008" cy="12984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34856" y="3831336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233C"/>
                </a:solidFill>
                <a:latin typeface="Aptos"/>
              </a:defRPr>
            </a:pPr>
            <a:r>
              <a:t>AI Response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34856" y="4251960"/>
            <a:ext cx="2468880" cy="60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50">
                <a:solidFill>
                  <a:srgbClr val="1F2937"/>
                </a:solidFill>
                <a:latin typeface="Aptos"/>
              </a:defRPr>
            </a:pPr>
            <a:r>
              <a:t>LLM produces answer + insights + implications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566160" y="1901952"/>
            <a:ext cx="594360" cy="0"/>
          </a:xfrm>
          <a:prstGeom prst="line">
            <a:avLst/>
          </a:prstGeom>
          <a:ln w="2032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406640" y="1901952"/>
            <a:ext cx="594360" cy="0"/>
          </a:xfrm>
          <a:prstGeom prst="line">
            <a:avLst/>
          </a:prstGeom>
          <a:ln w="2032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566160" y="3959352"/>
            <a:ext cx="594360" cy="0"/>
          </a:xfrm>
          <a:prstGeom prst="line">
            <a:avLst/>
          </a:prstGeom>
          <a:ln w="2032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406640" y="3959352"/>
            <a:ext cx="594360" cy="0"/>
          </a:xfrm>
          <a:prstGeom prst="line">
            <a:avLst/>
          </a:prstGeom>
          <a:ln w="2032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94360" y="6547104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658368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AI Analyst • RAG-Based Business Intelligence System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583680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  <a:latin typeface="Aptos"/>
              </a:defRPr>
            </a:pPr>
            <a:r>
              <a:t>PRAVEEN 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ptos"/>
              </a:defRPr>
            </a:pPr>
            <a:r>
              <a:t>DATA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685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"/>
              </a:defRPr>
            </a:pPr>
            <a:r>
              <a:t>6. Data 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34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Structured and unstructured sources used by the AI Analyst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949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64008" cy="3566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46504"/>
            <a:ext cx="5029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  <a:latin typeface="Aptos"/>
              </a:defRPr>
            </a:pPr>
            <a:r>
              <a:t>Excel / Structured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67128"/>
            <a:ext cx="502920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200">
                <a:solidFill>
                  <a:srgbClr val="1F2937"/>
                </a:solidFill>
                <a:latin typeface="Aptos"/>
              </a:defRPr>
            </a:pPr>
            <a:r>
              <a:t>Events: 24 rows × 10 columns</a:t>
            </a:r>
            <a:br/>
            <a:r>
              <a:t>Vendors: 8 rows × 7 columns</a:t>
            </a:r>
            <a:br/>
            <a:r>
              <a:t>Monthly Summary: 12 rows × 5 columns</a:t>
            </a:r>
            <a:br/>
            <a:br/>
            <a:r>
              <a:t>Key fields include City, Event_Type, Revenue_INR, Attendees, Satisfaction_Pct, Lead_Conversion_Pct, Rating and On_Time_Pct.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2578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64008" cy="35661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7" y="1746504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33C"/>
                </a:solidFill>
                <a:latin typeface="Aptos"/>
              </a:defRPr>
            </a:pPr>
            <a:r>
              <a:t>PDF / Unstructured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167128"/>
            <a:ext cx="4892040" cy="2871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200">
                <a:solidFill>
                  <a:srgbClr val="1F2937"/>
                </a:solidFill>
                <a:latin typeface="Aptos"/>
              </a:defRPr>
            </a:pPr>
            <a:r>
              <a:t>Business Report: 1 PDF</a:t>
            </a:r>
            <a:br/>
            <a:r>
              <a:t>Operations Playbook: 1 PDF</a:t>
            </a:r>
            <a:br/>
            <a:br/>
            <a:r>
              <a:t>Loaded with PyPDFLoader → 2 pages loaded → split into 6 chunks → embedded with all-MiniLM-L6-v2 → indexed in FAISS.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5440680"/>
            <a:ext cx="2057400" cy="6400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33C"/>
                </a:solidFill>
                <a:latin typeface="Aptos"/>
              </a:defRPr>
            </a:pPr>
            <a:r>
              <a:t>Excel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5440680"/>
            <a:ext cx="2057400" cy="6400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33C"/>
                </a:solidFill>
                <a:latin typeface="Aptos"/>
              </a:defRPr>
            </a:pPr>
            <a:r>
              <a:t>SQLite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5440680"/>
            <a:ext cx="2057400" cy="6400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33C"/>
                </a:solidFill>
                <a:latin typeface="Aptos"/>
              </a:defRPr>
            </a:pPr>
            <a:r>
              <a:t>PDF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5440680"/>
            <a:ext cx="2057400" cy="64008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33C"/>
                </a:solidFill>
                <a:latin typeface="Aptos"/>
              </a:defRPr>
            </a:pPr>
            <a:r>
              <a:t>FAISS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017520" y="5760720"/>
            <a:ext cx="384048" cy="0"/>
          </a:xfrm>
          <a:prstGeom prst="line">
            <a:avLst/>
          </a:prstGeom>
          <a:ln w="2032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503920" y="5760720"/>
            <a:ext cx="384048" cy="0"/>
          </a:xfrm>
          <a:prstGeom prst="line">
            <a:avLst/>
          </a:prstGeom>
          <a:ln w="2032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94360" y="6547104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658368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AI Analyst • RAG-Based Business Intelligence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83680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  <a:latin typeface="Aptos"/>
              </a:defRPr>
            </a:pPr>
            <a:r>
              <a:t>PRAVEEN 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ptos"/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685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"/>
              </a:defRPr>
            </a:pPr>
            <a:r>
              <a:t>7. System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34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AI Analyst architecture and question-routing logic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514600"/>
            <a:ext cx="1645920" cy="7772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33C"/>
                </a:solidFill>
                <a:latin typeface="Aptos"/>
              </a:defRPr>
            </a:pPr>
            <a:r>
              <a:t>User</a:t>
            </a:r>
            <a:br/>
            <a:r>
              <a:t>Question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31720" y="2907792"/>
            <a:ext cx="548640" cy="0"/>
          </a:xfrm>
          <a:prstGeom prst="line">
            <a:avLst/>
          </a:prstGeom>
          <a:ln w="2032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2514600"/>
            <a:ext cx="1874519" cy="77724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33C"/>
                </a:solidFill>
                <a:latin typeface="Aptos"/>
              </a:defRPr>
            </a:pPr>
            <a:r>
              <a:t>LLM Router</a:t>
            </a:r>
            <a:br/>
            <a:r>
              <a:t>RAG / SQL / BOTH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754880" y="1965960"/>
            <a:ext cx="777240" cy="777240"/>
          </a:xfrm>
          <a:prstGeom prst="line">
            <a:avLst/>
          </a:prstGeom>
          <a:ln w="2032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54880" y="2907792"/>
            <a:ext cx="777240" cy="0"/>
          </a:xfrm>
          <a:prstGeom prst="line">
            <a:avLst/>
          </a:prstGeom>
          <a:ln w="2032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54880" y="3072384"/>
            <a:ext cx="777240" cy="768096"/>
          </a:xfrm>
          <a:prstGeom prst="line">
            <a:avLst/>
          </a:prstGeom>
          <a:ln w="2032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532120" y="1554480"/>
            <a:ext cx="1874519" cy="7772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33C"/>
                </a:solidFill>
                <a:latin typeface="Aptos"/>
              </a:defRPr>
            </a:pPr>
            <a:r>
              <a:t>RAG Pipeline</a:t>
            </a:r>
            <a:br/>
            <a:r>
              <a:t>FAISS Search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2514600"/>
            <a:ext cx="1874519" cy="7772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33C"/>
                </a:solidFill>
                <a:latin typeface="Aptos"/>
              </a:defRPr>
            </a:pPr>
            <a:r>
              <a:t>SQL Pipeline</a:t>
            </a:r>
            <a:br/>
            <a:r>
              <a:t>SQLite Query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2120" y="3474720"/>
            <a:ext cx="1874519" cy="77724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33C"/>
                </a:solidFill>
                <a:latin typeface="Aptos"/>
              </a:defRPr>
            </a:pPr>
            <a:r>
              <a:t>BOTH</a:t>
            </a:r>
            <a:br/>
            <a:r>
              <a:t>SQL + RAG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06640" y="1938528"/>
            <a:ext cx="822960" cy="969264"/>
          </a:xfrm>
          <a:prstGeom prst="line">
            <a:avLst/>
          </a:prstGeom>
          <a:ln w="2032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06640" y="2907792"/>
            <a:ext cx="822960" cy="0"/>
          </a:xfrm>
          <a:prstGeom prst="line">
            <a:avLst/>
          </a:prstGeom>
          <a:ln w="2032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06640" y="2907792"/>
            <a:ext cx="822960" cy="950976"/>
          </a:xfrm>
          <a:prstGeom prst="line">
            <a:avLst/>
          </a:prstGeom>
          <a:ln w="2032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229600" y="2514600"/>
            <a:ext cx="1965960" cy="7772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4233C"/>
                </a:solidFill>
                <a:latin typeface="Aptos"/>
              </a:defRPr>
            </a:pPr>
            <a:r>
              <a:t>Llama 3.3 70B</a:t>
            </a:r>
            <a:br/>
            <a:r>
              <a:t>Answer + Insights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195560" y="2907792"/>
            <a:ext cx="548640" cy="0"/>
          </a:xfrm>
          <a:prstGeom prst="line">
            <a:avLst/>
          </a:prstGeom>
          <a:ln w="2032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744200" y="2514600"/>
            <a:ext cx="777240" cy="77724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Gradio</a:t>
            </a:r>
            <a:br/>
            <a:r>
              <a:t>UI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617720"/>
            <a:ext cx="32004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617720"/>
            <a:ext cx="64008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4764024"/>
            <a:ext cx="2834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233C"/>
                </a:solidFill>
                <a:latin typeface="Aptos"/>
              </a:defRPr>
            </a:pPr>
            <a:r>
              <a:t>RAG Example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5184648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50">
                <a:solidFill>
                  <a:srgbClr val="1F2937"/>
                </a:solidFill>
                <a:latin typeface="Aptos"/>
              </a:defRPr>
            </a:pPr>
            <a:r>
              <a:t>“What are the vendor selection criteria?”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4617720"/>
            <a:ext cx="32004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60" y="4617720"/>
            <a:ext cx="64008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81728" y="4764024"/>
            <a:ext cx="2834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233C"/>
                </a:solidFill>
                <a:latin typeface="Aptos"/>
              </a:defRPr>
            </a:pPr>
            <a:r>
              <a:t>SQL Example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1728" y="5184648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50">
                <a:solidFill>
                  <a:srgbClr val="1F2937"/>
                </a:solidFill>
                <a:latin typeface="Aptos"/>
              </a:defRPr>
            </a:pPr>
            <a:r>
              <a:t>“Which city generated the highest revenue?”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4617720"/>
            <a:ext cx="32004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4617720"/>
            <a:ext cx="64008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9328" y="4764024"/>
            <a:ext cx="2834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233C"/>
                </a:solidFill>
                <a:latin typeface="Aptos"/>
              </a:defRPr>
            </a:pPr>
            <a:r>
              <a:t>BOTH 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8" y="5184648"/>
            <a:ext cx="2834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19">
                <a:solidFill>
                  <a:srgbClr val="1F2937"/>
                </a:solidFill>
                <a:latin typeface="Aptos"/>
              </a:defRPr>
            </a:pPr>
            <a:r>
              <a:t>“Which event type generates the most revenue and what strategy should management use?”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547104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658368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AI Analyst • RAG-Based Business Intelligence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583680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  <a:latin typeface="Aptos"/>
              </a:defRPr>
            </a:pPr>
            <a:r>
              <a:t>PRAVEEN 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ptos"/>
              </a:defRPr>
            </a:pPr>
            <a:r>
              <a:t>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685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"/>
              </a:defRPr>
            </a:pPr>
            <a:r>
              <a:t>8. Key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34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Insights demonstrated by the project outputs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6400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79222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33C"/>
                </a:solidFill>
                <a:latin typeface="Aptos"/>
              </a:defRPr>
            </a:pPr>
            <a:r>
              <a:t>Highest Revenue 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12848"/>
            <a:ext cx="30632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100">
                <a:solidFill>
                  <a:srgbClr val="1F2937"/>
                </a:solidFill>
                <a:latin typeface="Aptos"/>
              </a:defRPr>
            </a:pPr>
            <a:r>
              <a:t>Jaipur generated the highest revenue: ₹90,00,000.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645920"/>
            <a:ext cx="64008" cy="14173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79222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33C"/>
                </a:solidFill>
                <a:latin typeface="Aptos"/>
              </a:defRPr>
            </a:pPr>
            <a:r>
              <a:t>Lowest Revenue 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212848"/>
            <a:ext cx="30632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100">
                <a:solidFill>
                  <a:srgbClr val="1F2937"/>
                </a:solidFill>
                <a:latin typeface="Aptos"/>
              </a:defRPr>
            </a:pPr>
            <a:r>
              <a:t>Chennai generated the lowest revenue: ₹13,50,000.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64592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645920"/>
            <a:ext cx="64008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79222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33C"/>
                </a:solidFill>
                <a:latin typeface="Aptos"/>
              </a:defRPr>
            </a:pPr>
            <a:r>
              <a:t>Top Revenue Event Type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212848"/>
            <a:ext cx="3063240" cy="7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100">
                <a:solidFill>
                  <a:srgbClr val="1F2937"/>
                </a:solidFill>
                <a:latin typeface="Aptos"/>
              </a:defRPr>
            </a:pPr>
            <a:r>
              <a:t>Wedding generated the highest event-type revenue: ₹1,58,30,000.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7472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474720"/>
            <a:ext cx="64008" cy="15087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621024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33C"/>
                </a:solidFill>
                <a:latin typeface="Aptos"/>
              </a:defRPr>
            </a:pPr>
            <a:r>
              <a:t>Intelligent Routing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4041648"/>
            <a:ext cx="4846320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100">
                <a:solidFill>
                  <a:srgbClr val="1F2937"/>
                </a:solidFill>
                <a:latin typeface="Aptos"/>
              </a:defRPr>
            </a:pPr>
            <a:r>
              <a:t>The system correctly routed test questions as RAG, SQL, and BOTH depending on the information required.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3474720"/>
            <a:ext cx="5486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80760" y="3474720"/>
            <a:ext cx="64008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81928" y="3621024"/>
            <a:ext cx="5120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4233C"/>
                </a:solidFill>
                <a:latin typeface="Aptos"/>
              </a:defRPr>
            </a:pPr>
            <a:r>
              <a:t>Business 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8" y="4041648"/>
            <a:ext cx="5120640" cy="813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100">
                <a:solidFill>
                  <a:srgbClr val="1F2937"/>
                </a:solidFill>
                <a:latin typeface="Aptos"/>
              </a:defRPr>
            </a:pPr>
            <a:r>
              <a:t>The AI output includes an answer, key/data-driven insights, business implications, and sources/context where applicable.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34640" y="5349240"/>
            <a:ext cx="6492240" cy="658368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34640" y="5349240"/>
            <a:ext cx="64008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35808" y="5495544"/>
            <a:ext cx="61264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233C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35808" y="5916168"/>
            <a:ext cx="6126479" cy="-36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50">
                <a:solidFill>
                  <a:srgbClr val="1F2937"/>
                </a:solidFill>
                <a:latin typeface="Aptos"/>
              </a:defRPr>
            </a:pPr>
            <a:r>
              <a:t>Wedding → highest revenue → management recommendation focused on destination services and key wedding vendors.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547104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658368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AI Analyst • RAG-Based Business Intelligence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83680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  <a:latin typeface="Aptos"/>
              </a:defRPr>
            </a:pPr>
            <a:r>
              <a:t>PRAVEEN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ptos"/>
              </a:defRPr>
            </a:pPr>
            <a:r>
              <a:t>CHALLENGES FACED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685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"/>
              </a:defRPr>
            </a:pPr>
            <a:r>
              <a:t>9. Challenges Faced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34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Technical and analytical challenges during implementation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00200"/>
            <a:ext cx="106527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00200"/>
            <a:ext cx="64008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746504"/>
            <a:ext cx="10287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33C"/>
                </a:solidFill>
                <a:latin typeface="Aptos"/>
              </a:defRPr>
            </a:pPr>
            <a:r>
              <a:t>Multiple data formats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167128"/>
            <a:ext cx="10287000" cy="-9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50">
                <a:solidFill>
                  <a:srgbClr val="1F2937"/>
                </a:solidFill>
                <a:latin typeface="Aptos"/>
              </a:defRPr>
            </a:pPr>
            <a:r>
              <a:t>Combining Excel-based structured data with PDF-based unstructured knowledge.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478024"/>
            <a:ext cx="106527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478024"/>
            <a:ext cx="64008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2624328"/>
            <a:ext cx="10287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33C"/>
                </a:solidFill>
                <a:latin typeface="Aptos"/>
              </a:defRPr>
            </a:pPr>
            <a:r>
              <a:t>Question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044952"/>
            <a:ext cx="10287000" cy="-9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50">
                <a:solidFill>
                  <a:srgbClr val="1F2937"/>
                </a:solidFill>
                <a:latin typeface="Aptos"/>
              </a:defRPr>
            </a:pPr>
            <a:r>
              <a:t>Determining whether a question needs RAG, SQL, or both.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55848"/>
            <a:ext cx="106527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355848"/>
            <a:ext cx="64008" cy="685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502152"/>
            <a:ext cx="10287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33C"/>
                </a:solidFill>
                <a:latin typeface="Aptos"/>
              </a:defRPr>
            </a:pPr>
            <a:r>
              <a:t>Grounded responses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3922776"/>
            <a:ext cx="10287000" cy="-9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50">
                <a:solidFill>
                  <a:srgbClr val="1F2937"/>
                </a:solidFill>
                <a:latin typeface="Aptos"/>
              </a:defRPr>
            </a:pPr>
            <a:r>
              <a:t>Preventing the LLM from inventing facts or numbers.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233672"/>
            <a:ext cx="106527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233672"/>
            <a:ext cx="64008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" y="4379976"/>
            <a:ext cx="10287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33C"/>
                </a:solidFill>
                <a:latin typeface="Aptos"/>
              </a:defRPr>
            </a:pPr>
            <a:r>
              <a:t>SQL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" y="4800600"/>
            <a:ext cx="10287000" cy="-9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50">
                <a:solidFill>
                  <a:srgbClr val="1F2937"/>
                </a:solidFill>
                <a:latin typeface="Aptos"/>
              </a:defRPr>
            </a:pPr>
            <a:r>
              <a:t>Generating valid SQLite queries using only the available schema.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111496"/>
            <a:ext cx="1065276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5111496"/>
            <a:ext cx="64008" cy="685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5257800"/>
            <a:ext cx="10287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33C"/>
                </a:solidFill>
                <a:latin typeface="Aptos"/>
              </a:defRPr>
            </a:pPr>
            <a:r>
              <a:t>Source traceability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5678424"/>
            <a:ext cx="10287000" cy="-9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50">
                <a:solidFill>
                  <a:srgbClr val="1F2937"/>
                </a:solidFill>
                <a:latin typeface="Aptos"/>
              </a:defRPr>
            </a:pPr>
            <a:r>
              <a:t>Keeping document source and page metadata with retrieved chunks.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547104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658368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AI Analyst • RAG-Based Business Intelligence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583680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  <a:latin typeface="Aptos"/>
              </a:defRPr>
            </a:pPr>
            <a:r>
              <a:t>PRAVEEN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ptos"/>
              </a:defRPr>
            </a:pPr>
            <a:r>
              <a:t>REAL-LIFE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685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"/>
              </a:defRPr>
            </a:pPr>
            <a:r>
              <a:t>10. Real-Life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34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How an event-management team could use the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50749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645920"/>
            <a:ext cx="64008" cy="10241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792224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33C"/>
                </a:solidFill>
                <a:latin typeface="Aptos"/>
              </a:defRPr>
            </a:pPr>
            <a:r>
              <a:t>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212848"/>
            <a:ext cx="47091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1F2937"/>
                </a:solidFill>
                <a:latin typeface="Aptos"/>
              </a:defRPr>
            </a:pPr>
            <a:r>
              <a:t>Ask business questions and receive contextual insights.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645920"/>
            <a:ext cx="50749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1645920"/>
            <a:ext cx="64008" cy="10241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7" y="1792224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33C"/>
                </a:solidFill>
                <a:latin typeface="Aptos"/>
              </a:defRPr>
            </a:pPr>
            <a:r>
              <a:t>Operations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7" y="2212848"/>
            <a:ext cx="47091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1F2937"/>
                </a:solidFill>
                <a:latin typeface="Aptos"/>
              </a:defRPr>
            </a:pPr>
            <a:r>
              <a:t>Use vendor and operational information for decision support.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971800"/>
            <a:ext cx="50749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971800"/>
            <a:ext cx="64008" cy="102412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3118104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33C"/>
                </a:solidFill>
                <a:latin typeface="Aptos"/>
              </a:defRPr>
            </a:pPr>
            <a:r>
              <a:t>Finance / Analysts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3538728"/>
            <a:ext cx="47091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1F2937"/>
                </a:solidFill>
                <a:latin typeface="Aptos"/>
              </a:defRPr>
            </a:pPr>
            <a:r>
              <a:t>Query revenue, event and performance metrics using natural language.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2971800"/>
            <a:ext cx="50749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2971800"/>
            <a:ext cx="64008" cy="10241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7" y="3118104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33C"/>
                </a:solidFill>
                <a:latin typeface="Aptos"/>
              </a:defRPr>
            </a:pPr>
            <a:r>
              <a:t>Strategy 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7" y="3538728"/>
            <a:ext cx="47091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1F2937"/>
                </a:solidFill>
                <a:latin typeface="Aptos"/>
              </a:defRPr>
            </a:pPr>
            <a:r>
              <a:t>Combine numerical performance with business context for recommendations.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297680"/>
            <a:ext cx="507492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297680"/>
            <a:ext cx="64008" cy="10241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443984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4233C"/>
                </a:solidFill>
                <a:latin typeface="Aptos"/>
              </a:defRPr>
            </a:pPr>
            <a:r>
              <a:t>Business Users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4864608"/>
            <a:ext cx="470915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1F2937"/>
                </a:solidFill>
                <a:latin typeface="Aptos"/>
              </a:defRPr>
            </a:pPr>
            <a:r>
              <a:t>Access information without manually searching PDFs or writing SQL.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0" y="5623560"/>
            <a:ext cx="6675120" cy="502920"/>
          </a:xfrm>
          <a:prstGeom prst="roundRect">
            <a:avLst/>
          </a:prstGeom>
          <a:solidFill>
            <a:srgbClr val="ECFDF5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0" y="5623560"/>
            <a:ext cx="64008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44368" y="5769864"/>
            <a:ext cx="63093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233C"/>
                </a:solidFill>
                <a:latin typeface="Aptos"/>
              </a:defRPr>
            </a:pPr>
            <a:r>
              <a:t>Overall 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6190488"/>
            <a:ext cx="6309359" cy="-192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00">
                <a:solidFill>
                  <a:srgbClr val="1F2937"/>
                </a:solidFill>
                <a:latin typeface="Aptos"/>
              </a:defRPr>
            </a:pPr>
            <a:r>
              <a:t>Faster access to business information and more consistent, data-grounded decision support.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547104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658368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AI Analyst • RAG-Based Business Intelligence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83680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  <a:latin typeface="Aptos"/>
              </a:defRPr>
            </a:pPr>
            <a:r>
              <a:t>PRAVEEN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685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"/>
              </a:defRPr>
            </a:pPr>
            <a:r>
              <a:t>11.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34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From raw business information to natural-language AI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10424160" cy="42976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Built an AI Analyst that combines SQL-based structured-data analysis with RAG-based document retrieval.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Enabled natural-language questions across events, vendors, revenue, business reports and operational knowledge.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Implemented RAG / SQL / BOTH routing to select the appropriate information source.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Used Llama 3.3 70B to convert retrieved data and context into business-friendly answers.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1700">
                <a:solidFill>
                  <a:srgbClr val="1F2937"/>
                </a:solidFill>
                <a:latin typeface="Aptos"/>
              </a:defRPr>
            </a:pPr>
            <a:r>
              <a:t>• Demonstrated how GenAI can simplify access to business information and support data-driven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5440680"/>
            <a:ext cx="8503920" cy="594360"/>
          </a:xfrm>
          <a:prstGeom prst="round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0" y="5440680"/>
            <a:ext cx="64008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9968" y="5586984"/>
            <a:ext cx="81381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4233C"/>
                </a:solidFill>
                <a:latin typeface="Aptos"/>
              </a:defRPr>
            </a:pPr>
            <a:r>
              <a:t>Project Outcome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9968" y="6007608"/>
            <a:ext cx="8138160" cy="-10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1F2937"/>
                </a:solidFill>
                <a:latin typeface="Aptos"/>
              </a:defRPr>
            </a:pPr>
            <a:r>
              <a:t>A single AI interface for grounded business analysis across structured and unstructured 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47104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58368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AI Analyst • RAG-Based Business Intelligence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83680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  <a:latin typeface="Aptos"/>
              </a:defRPr>
            </a:pPr>
            <a:r>
              <a:t>PRAVEEN 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685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"/>
              </a:defRPr>
            </a:pPr>
            <a:r>
              <a:t>12.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34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Possible extensions of the current AI Analyst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64008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46504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33C"/>
                </a:solidFill>
                <a:latin typeface="Aptos"/>
              </a:defRPr>
            </a:pPr>
            <a:r>
              <a:t>Future Enhancement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67128"/>
            <a:ext cx="484632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1F2937"/>
                </a:solidFill>
                <a:latin typeface="Aptos"/>
              </a:defRPr>
            </a:pPr>
            <a:r>
              <a:t>Real-time database integration instead of static Excel inputs.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60020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1600200"/>
            <a:ext cx="64008" cy="10972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7" y="1746504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33C"/>
                </a:solidFill>
                <a:latin typeface="Aptos"/>
              </a:defRPr>
            </a:pPr>
            <a:r>
              <a:t>Future Enhancement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7" y="2167128"/>
            <a:ext cx="484632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1F2937"/>
                </a:solidFill>
                <a:latin typeface="Aptos"/>
              </a:defRPr>
            </a:pPr>
            <a:r>
              <a:t>Add more enterprise documents and continuously update the vector database.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1752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017520"/>
            <a:ext cx="64008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163824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33C"/>
                </a:solidFill>
                <a:latin typeface="Aptos"/>
              </a:defRPr>
            </a:pPr>
            <a:r>
              <a:t>Future Enhancement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584448"/>
            <a:ext cx="484632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1F2937"/>
                </a:solidFill>
                <a:latin typeface="Aptos"/>
              </a:defRPr>
            </a:pPr>
            <a:r>
              <a:t>Add authentication, role-based access, and audit logging.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301752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3017520"/>
            <a:ext cx="64008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7" y="3163824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33C"/>
                </a:solidFill>
                <a:latin typeface="Aptos"/>
              </a:defRPr>
            </a:pPr>
            <a:r>
              <a:t>Future Enhancement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7" y="3584448"/>
            <a:ext cx="484632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1F2937"/>
                </a:solidFill>
                <a:latin typeface="Aptos"/>
              </a:defRPr>
            </a:pPr>
            <a:r>
              <a:t>Improve routing and SQL validation with stronger guardrails.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43484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434840"/>
            <a:ext cx="64008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581144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33C"/>
                </a:solidFill>
                <a:latin typeface="Aptos"/>
              </a:defRPr>
            </a:pPr>
            <a:r>
              <a:t>Future Enhancement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5001768"/>
            <a:ext cx="484632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1F2937"/>
                </a:solidFill>
                <a:latin typeface="Aptos"/>
              </a:defRPr>
            </a:pPr>
            <a:r>
              <a:t>Add dashboards and automated KPI summaries alongside natural-language Q&amp;A.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59" y="443484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59" y="4434840"/>
            <a:ext cx="64008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7" y="4581144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4233C"/>
                </a:solidFill>
                <a:latin typeface="Aptos"/>
              </a:defRPr>
            </a:pPr>
            <a:r>
              <a:t>Future Enhancement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7" y="5001768"/>
            <a:ext cx="4846320" cy="402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1000">
                <a:solidFill>
                  <a:srgbClr val="1F2937"/>
                </a:solidFill>
                <a:latin typeface="Aptos"/>
              </a:defRPr>
            </a:pPr>
            <a:r>
              <a:t>Introduce predictive analytics for revenue, event demand, and vendor performance.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547104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658368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AI Analyst • RAG-Based Business Intelligence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83680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  <a:latin typeface="Aptos"/>
              </a:defRPr>
            </a:pPr>
            <a:r>
              <a:t>PRAVEEN 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82880"/>
            <a:ext cx="685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64748B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"/>
              </a:defRPr>
            </a:pPr>
            <a:r>
              <a:t>13.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344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Aptos"/>
              </a:defRPr>
            </a:pPr>
            <a:r>
              <a:t>Project resources and technical components used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00200"/>
            <a:ext cx="5074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00200"/>
            <a:ext cx="64008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746504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33C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167128"/>
            <a:ext cx="4709159" cy="17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50">
                <a:solidFill>
                  <a:srgbClr val="1F2937"/>
                </a:solidFill>
                <a:latin typeface="Aptos"/>
              </a:defRPr>
            </a:pPr>
            <a:r>
              <a:t>Core programming and orchestration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00200"/>
            <a:ext cx="5074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600200"/>
            <a:ext cx="64008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746504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33C"/>
                </a:solidFill>
                <a:latin typeface="Aptos"/>
              </a:defRPr>
            </a:pPr>
            <a:r>
              <a:t>Pandas / SQLite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167128"/>
            <a:ext cx="4709159" cy="17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50">
                <a:solidFill>
                  <a:srgbClr val="1F2937"/>
                </a:solidFill>
                <a:latin typeface="Aptos"/>
              </a:defRPr>
            </a:pPr>
            <a:r>
              <a:t>Structured data processing and querying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743200"/>
            <a:ext cx="5074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2743200"/>
            <a:ext cx="64008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2889504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33C"/>
                </a:solidFill>
                <a:latin typeface="Aptos"/>
              </a:defRPr>
            </a:pPr>
            <a:r>
              <a:t>LangChain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3310128"/>
            <a:ext cx="4709159" cy="17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50">
                <a:solidFill>
                  <a:srgbClr val="1F2937"/>
                </a:solidFill>
                <a:latin typeface="Aptos"/>
              </a:defRPr>
            </a:pPr>
            <a:r>
              <a:t>Document and LLM workflow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743200"/>
            <a:ext cx="5074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2743200"/>
            <a:ext cx="64008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2889504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33C"/>
                </a:solidFill>
                <a:latin typeface="Aptos"/>
              </a:defRPr>
            </a:pPr>
            <a:r>
              <a:t>PyPDF / Hugging 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310128"/>
            <a:ext cx="4709159" cy="17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50">
                <a:solidFill>
                  <a:srgbClr val="1F2937"/>
                </a:solidFill>
                <a:latin typeface="Aptos"/>
              </a:defRPr>
            </a:pPr>
            <a:r>
              <a:t>PDF loading and embeddings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886200"/>
            <a:ext cx="5074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3886200"/>
            <a:ext cx="64008" cy="8686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4032504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33C"/>
                </a:solidFill>
                <a:latin typeface="Aptos"/>
              </a:defRPr>
            </a:pPr>
            <a:r>
              <a:t>FAISS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453128"/>
            <a:ext cx="4709159" cy="17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50">
                <a:solidFill>
                  <a:srgbClr val="1F2937"/>
                </a:solidFill>
                <a:latin typeface="Aptos"/>
              </a:defRPr>
            </a:pPr>
            <a:r>
              <a:t>Vector similarity search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3886200"/>
            <a:ext cx="5074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3886200"/>
            <a:ext cx="64008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4032504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33C"/>
                </a:solidFill>
                <a:latin typeface="Aptos"/>
              </a:defRPr>
            </a:pPr>
            <a:r>
              <a:t>Groq / Llama 3.3 70B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4453128"/>
            <a:ext cx="4709159" cy="17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50">
                <a:solidFill>
                  <a:srgbClr val="1F2937"/>
                </a:solidFill>
                <a:latin typeface="Aptos"/>
              </a:defRPr>
            </a:pPr>
            <a:r>
              <a:t>LLM inference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029200"/>
            <a:ext cx="5074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" y="5029200"/>
            <a:ext cx="64008" cy="868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5175504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33C"/>
                </a:solidFill>
                <a:latin typeface="Aptos"/>
              </a:defRPr>
            </a:pPr>
            <a:r>
              <a:t>Gradio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" y="5596128"/>
            <a:ext cx="4709159" cy="17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50">
                <a:solidFill>
                  <a:srgbClr val="1F2937"/>
                </a:solidFill>
                <a:latin typeface="Aptos"/>
              </a:defRPr>
            </a:pPr>
            <a:r>
              <a:t>Application interface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5029200"/>
            <a:ext cx="507492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5029200"/>
            <a:ext cx="64008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0528" y="5175504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4233C"/>
                </a:solidFill>
                <a:latin typeface="Aptos"/>
              </a:defRPr>
            </a:pPr>
            <a:r>
              <a:t>Project datasets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0528" y="5596128"/>
            <a:ext cx="4709159" cy="173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 sz="950">
                <a:solidFill>
                  <a:srgbClr val="1F2937"/>
                </a:solidFill>
                <a:latin typeface="Aptos"/>
              </a:defRPr>
            </a:pPr>
            <a:r>
              <a:t>Event management Excel and business/operations PDF documents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6547104"/>
            <a:ext cx="1097280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6583680"/>
            <a:ext cx="5486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  <a:latin typeface="Aptos"/>
              </a:defRPr>
            </a:pPr>
            <a:r>
              <a:t>AI Analyst • RAG-Based Business Intelligence System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583680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  <a:latin typeface="Aptos"/>
              </a:defRPr>
            </a:pPr>
            <a:r>
              <a:t>PRAVEEN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